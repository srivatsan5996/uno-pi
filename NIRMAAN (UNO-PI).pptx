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4" r:id="rId8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71" autoAdjust="0"/>
    <p:restoredTop sz="94660"/>
  </p:normalViewPr>
  <p:slideViewPr>
    <p:cSldViewPr snapToGrid="0">
      <p:cViewPr>
        <p:scale>
          <a:sx n="66" d="100"/>
          <a:sy n="66" d="100"/>
        </p:scale>
        <p:origin x="79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tharan. R" userId="2f8cc69c597a8323" providerId="LiveId" clId="{C672B678-B4D6-49CC-8DB6-64A2089F0910}"/>
    <pc:docChg chg="undo custSel addSld delSld modSld">
      <pc:chgData name="Giritharan. R" userId="2f8cc69c597a8323" providerId="LiveId" clId="{C672B678-B4D6-49CC-8DB6-64A2089F0910}" dt="2026-09-07T13:13:47.287" v="404" actId="478"/>
      <pc:docMkLst>
        <pc:docMk/>
      </pc:docMkLst>
      <pc:sldChg chg="modSp mod">
        <pc:chgData name="Giritharan. R" userId="2f8cc69c597a8323" providerId="LiveId" clId="{C672B678-B4D6-49CC-8DB6-64A2089F0910}" dt="2026-09-07T12:37:59.391" v="199" actId="20577"/>
        <pc:sldMkLst>
          <pc:docMk/>
          <pc:sldMk cId="0" sldId="256"/>
        </pc:sldMkLst>
        <pc:spChg chg="mod">
          <ac:chgData name="Giritharan. R" userId="2f8cc69c597a8323" providerId="LiveId" clId="{C672B678-B4D6-49CC-8DB6-64A2089F0910}" dt="2026-09-07T12:37:59.391" v="199" actId="20577"/>
          <ac:spMkLst>
            <pc:docMk/>
            <pc:sldMk cId="0" sldId="256"/>
            <ac:spMk id="98" creationId="{00000000-0000-0000-0000-000000000000}"/>
          </ac:spMkLst>
        </pc:spChg>
        <pc:grpChg chg="mod">
          <ac:chgData name="Giritharan. R" userId="2f8cc69c597a8323" providerId="LiveId" clId="{C672B678-B4D6-49CC-8DB6-64A2089F0910}" dt="2026-09-07T12:36:00.702" v="140" actId="1076"/>
          <ac:grpSpMkLst>
            <pc:docMk/>
            <pc:sldMk cId="0" sldId="256"/>
            <ac:grpSpMk id="96" creationId="{00000000-0000-0000-0000-000000000000}"/>
          </ac:grpSpMkLst>
        </pc:grpChg>
      </pc:sldChg>
      <pc:sldChg chg="addSp delSp modSp mod">
        <pc:chgData name="Giritharan. R" userId="2f8cc69c597a8323" providerId="LiveId" clId="{C672B678-B4D6-49CC-8DB6-64A2089F0910}" dt="2026-09-07T13:11:33.155" v="384" actId="20577"/>
        <pc:sldMkLst>
          <pc:docMk/>
          <pc:sldMk cId="0" sldId="257"/>
        </pc:sldMkLst>
        <pc:spChg chg="add mod">
          <ac:chgData name="Giritharan. R" userId="2f8cc69c597a8323" providerId="LiveId" clId="{C672B678-B4D6-49CC-8DB6-64A2089F0910}" dt="2026-09-07T12:49:08.660" v="264"/>
          <ac:spMkLst>
            <pc:docMk/>
            <pc:sldMk cId="0" sldId="257"/>
            <ac:spMk id="2" creationId="{96E3E3A2-0F64-895B-156D-B7435FC9D585}"/>
          </ac:spMkLst>
        </pc:spChg>
        <pc:spChg chg="add mod">
          <ac:chgData name="Giritharan. R" userId="2f8cc69c597a8323" providerId="LiveId" clId="{C672B678-B4D6-49CC-8DB6-64A2089F0910}" dt="2026-09-07T13:04:57.728" v="319" actId="14100"/>
          <ac:spMkLst>
            <pc:docMk/>
            <pc:sldMk cId="0" sldId="257"/>
            <ac:spMk id="3" creationId="{BF5FA391-75CD-D65D-CAC3-A6473DF86DA2}"/>
          </ac:spMkLst>
        </pc:spChg>
        <pc:spChg chg="add mod">
          <ac:chgData name="Giritharan. R" userId="2f8cc69c597a8323" providerId="LiveId" clId="{C672B678-B4D6-49CC-8DB6-64A2089F0910}" dt="2026-09-07T13:08:08.570" v="332" actId="1076"/>
          <ac:spMkLst>
            <pc:docMk/>
            <pc:sldMk cId="0" sldId="257"/>
            <ac:spMk id="4" creationId="{D030C9EB-4770-CDA6-07DE-D199DEC3C140}"/>
          </ac:spMkLst>
        </pc:spChg>
        <pc:spChg chg="add mod">
          <ac:chgData name="Giritharan. R" userId="2f8cc69c597a8323" providerId="LiveId" clId="{C672B678-B4D6-49CC-8DB6-64A2089F0910}" dt="2026-09-07T13:06:24.218" v="326" actId="1076"/>
          <ac:spMkLst>
            <pc:docMk/>
            <pc:sldMk cId="0" sldId="257"/>
            <ac:spMk id="5" creationId="{27A04FCA-59B5-F56A-2E53-F2F97007163E}"/>
          </ac:spMkLst>
        </pc:spChg>
        <pc:spChg chg="add mod">
          <ac:chgData name="Giritharan. R" userId="2f8cc69c597a8323" providerId="LiveId" clId="{C672B678-B4D6-49CC-8DB6-64A2089F0910}" dt="2026-09-07T13:11:33.155" v="384" actId="20577"/>
          <ac:spMkLst>
            <pc:docMk/>
            <pc:sldMk cId="0" sldId="257"/>
            <ac:spMk id="8" creationId="{631C84A6-D7F3-C6DF-2F17-5C0F2932F331}"/>
          </ac:spMkLst>
        </pc:spChg>
        <pc:spChg chg="add del mod">
          <ac:chgData name="Giritharan. R" userId="2f8cc69c597a8323" providerId="LiveId" clId="{C672B678-B4D6-49CC-8DB6-64A2089F0910}" dt="2026-09-07T13:08:47.927" v="334"/>
          <ac:spMkLst>
            <pc:docMk/>
            <pc:sldMk cId="0" sldId="257"/>
            <ac:spMk id="107" creationId="{00000000-0000-0000-0000-000000000000}"/>
          </ac:spMkLst>
        </pc:spChg>
        <pc:spChg chg="mod">
          <ac:chgData name="Giritharan. R" userId="2f8cc69c597a8323" providerId="LiveId" clId="{C672B678-B4D6-49CC-8DB6-64A2089F0910}" dt="2026-09-07T12:49:12.958" v="265" actId="6549"/>
          <ac:spMkLst>
            <pc:docMk/>
            <pc:sldMk cId="0" sldId="257"/>
            <ac:spMk id="108" creationId="{00000000-0000-0000-0000-000000000000}"/>
          </ac:spMkLst>
        </pc:spChg>
        <pc:picChg chg="add mod">
          <ac:chgData name="Giritharan. R" userId="2f8cc69c597a8323" providerId="LiveId" clId="{C672B678-B4D6-49CC-8DB6-64A2089F0910}" dt="2026-09-07T13:06:46.621" v="331" actId="1076"/>
          <ac:picMkLst>
            <pc:docMk/>
            <pc:sldMk cId="0" sldId="257"/>
            <ac:picMk id="6" creationId="{DE79D5A9-AB08-263A-4609-BC7FCE6DDD54}"/>
          </ac:picMkLst>
        </pc:picChg>
        <pc:picChg chg="add mod">
          <ac:chgData name="Giritharan. R" userId="2f8cc69c597a8323" providerId="LiveId" clId="{C672B678-B4D6-49CC-8DB6-64A2089F0910}" dt="2026-09-07T13:06:42.265" v="330" actId="1076"/>
          <ac:picMkLst>
            <pc:docMk/>
            <pc:sldMk cId="0" sldId="257"/>
            <ac:picMk id="7" creationId="{E4192734-79BF-26DC-C5BA-2AFD650D96B3}"/>
          </ac:picMkLst>
        </pc:picChg>
      </pc:sldChg>
      <pc:sldChg chg="addSp modSp mod">
        <pc:chgData name="Giritharan. R" userId="2f8cc69c597a8323" providerId="LiveId" clId="{C672B678-B4D6-49CC-8DB6-64A2089F0910}" dt="2026-09-07T13:04:13.392" v="315"/>
        <pc:sldMkLst>
          <pc:docMk/>
          <pc:sldMk cId="0" sldId="258"/>
        </pc:sldMkLst>
        <pc:spChg chg="add mod">
          <ac:chgData name="Giritharan. R" userId="2f8cc69c597a8323" providerId="LiveId" clId="{C672B678-B4D6-49CC-8DB6-64A2089F0910}" dt="2026-09-07T13:03:06.632" v="312" actId="20577"/>
          <ac:spMkLst>
            <pc:docMk/>
            <pc:sldMk cId="0" sldId="258"/>
            <ac:spMk id="2" creationId="{C12DC998-8967-C983-3DC4-F00C61963D0F}"/>
          </ac:spMkLst>
        </pc:spChg>
        <pc:spChg chg="add mod">
          <ac:chgData name="Giritharan. R" userId="2f8cc69c597a8323" providerId="LiveId" clId="{C672B678-B4D6-49CC-8DB6-64A2089F0910}" dt="2026-09-07T13:03:32.628" v="313"/>
          <ac:spMkLst>
            <pc:docMk/>
            <pc:sldMk cId="0" sldId="258"/>
            <ac:spMk id="3" creationId="{80720090-8B25-193F-B65D-DB9C1649FEF0}"/>
          </ac:spMkLst>
        </pc:spChg>
        <pc:spChg chg="add mod">
          <ac:chgData name="Giritharan. R" userId="2f8cc69c597a8323" providerId="LiveId" clId="{C672B678-B4D6-49CC-8DB6-64A2089F0910}" dt="2026-09-07T13:03:49.759" v="314"/>
          <ac:spMkLst>
            <pc:docMk/>
            <pc:sldMk cId="0" sldId="258"/>
            <ac:spMk id="4" creationId="{570A3CA4-EB40-A81A-340E-B25731083789}"/>
          </ac:spMkLst>
        </pc:spChg>
        <pc:spChg chg="add mod">
          <ac:chgData name="Giritharan. R" userId="2f8cc69c597a8323" providerId="LiveId" clId="{C672B678-B4D6-49CC-8DB6-64A2089F0910}" dt="2026-09-07T13:03:49.759" v="314"/>
          <ac:spMkLst>
            <pc:docMk/>
            <pc:sldMk cId="0" sldId="258"/>
            <ac:spMk id="6" creationId="{0347EBFF-328D-EE98-1FBA-249C7D064132}"/>
          </ac:spMkLst>
        </pc:spChg>
        <pc:spChg chg="add mod">
          <ac:chgData name="Giritharan. R" userId="2f8cc69c597a8323" providerId="LiveId" clId="{C672B678-B4D6-49CC-8DB6-64A2089F0910}" dt="2026-09-07T13:03:49.759" v="314"/>
          <ac:spMkLst>
            <pc:docMk/>
            <pc:sldMk cId="0" sldId="258"/>
            <ac:spMk id="8" creationId="{13310DCF-4DBD-49B4-25C9-738BB9973D9E}"/>
          </ac:spMkLst>
        </pc:spChg>
        <pc:spChg chg="add mod">
          <ac:chgData name="Giritharan. R" userId="2f8cc69c597a8323" providerId="LiveId" clId="{C672B678-B4D6-49CC-8DB6-64A2089F0910}" dt="2026-09-07T13:04:13.392" v="315"/>
          <ac:spMkLst>
            <pc:docMk/>
            <pc:sldMk cId="0" sldId="258"/>
            <ac:spMk id="9" creationId="{7C4E1EB3-4FDF-B9D6-F074-F430E218B417}"/>
          </ac:spMkLst>
        </pc:spChg>
        <pc:spChg chg="add mod">
          <ac:chgData name="Giritharan. R" userId="2f8cc69c597a8323" providerId="LiveId" clId="{C672B678-B4D6-49CC-8DB6-64A2089F0910}" dt="2026-09-07T13:04:13.392" v="315"/>
          <ac:spMkLst>
            <pc:docMk/>
            <pc:sldMk cId="0" sldId="258"/>
            <ac:spMk id="10" creationId="{794BEDDB-9F96-D2AF-0738-7E601DEB3FC3}"/>
          </ac:spMkLst>
        </pc:spChg>
        <pc:spChg chg="mod">
          <ac:chgData name="Giritharan. R" userId="2f8cc69c597a8323" providerId="LiveId" clId="{C672B678-B4D6-49CC-8DB6-64A2089F0910}" dt="2026-09-07T12:50:45.274" v="278" actId="6549"/>
          <ac:spMkLst>
            <pc:docMk/>
            <pc:sldMk cId="0" sldId="258"/>
            <ac:spMk id="112" creationId="{00000000-0000-0000-0000-000000000000}"/>
          </ac:spMkLst>
        </pc:spChg>
        <pc:cxnChg chg="add mod">
          <ac:chgData name="Giritharan. R" userId="2f8cc69c597a8323" providerId="LiveId" clId="{C672B678-B4D6-49CC-8DB6-64A2089F0910}" dt="2026-09-07T13:03:49.759" v="314"/>
          <ac:cxnSpMkLst>
            <pc:docMk/>
            <pc:sldMk cId="0" sldId="258"/>
            <ac:cxnSpMk id="5" creationId="{76A6DAEB-F774-B7E5-CE0B-ECF96C3761DE}"/>
          </ac:cxnSpMkLst>
        </pc:cxnChg>
        <pc:cxnChg chg="add mod">
          <ac:chgData name="Giritharan. R" userId="2f8cc69c597a8323" providerId="LiveId" clId="{C672B678-B4D6-49CC-8DB6-64A2089F0910}" dt="2026-09-07T13:03:49.759" v="314"/>
          <ac:cxnSpMkLst>
            <pc:docMk/>
            <pc:sldMk cId="0" sldId="258"/>
            <ac:cxnSpMk id="7" creationId="{72A75CCC-C657-EAFF-460E-9E269EF8BF78}"/>
          </ac:cxnSpMkLst>
        </pc:cxnChg>
      </pc:sldChg>
      <pc:sldChg chg="del">
        <pc:chgData name="Giritharan. R" userId="2f8cc69c597a8323" providerId="LiveId" clId="{C672B678-B4D6-49CC-8DB6-64A2089F0910}" dt="2026-09-07T12:48:09.734" v="263" actId="2696"/>
        <pc:sldMkLst>
          <pc:docMk/>
          <pc:sldMk cId="0" sldId="259"/>
        </pc:sldMkLst>
      </pc:sldChg>
      <pc:sldChg chg="addSp delSp modSp mod">
        <pc:chgData name="Giritharan. R" userId="2f8cc69c597a8323" providerId="LiveId" clId="{C672B678-B4D6-49CC-8DB6-64A2089F0910}" dt="2026-09-07T13:13:47.287" v="404" actId="478"/>
        <pc:sldMkLst>
          <pc:docMk/>
          <pc:sldMk cId="0" sldId="260"/>
        </pc:sldMkLst>
        <pc:spChg chg="add mod">
          <ac:chgData name="Giritharan. R" userId="2f8cc69c597a8323" providerId="LiveId" clId="{C672B678-B4D6-49CC-8DB6-64A2089F0910}" dt="2026-09-07T13:09:44.238" v="338" actId="14100"/>
          <ac:spMkLst>
            <pc:docMk/>
            <pc:sldMk cId="0" sldId="260"/>
            <ac:spMk id="2" creationId="{B6AF5196-3AFD-9922-6EFD-6C282C502C28}"/>
          </ac:spMkLst>
        </pc:spChg>
        <pc:spChg chg="add mod">
          <ac:chgData name="Giritharan. R" userId="2f8cc69c597a8323" providerId="LiveId" clId="{C672B678-B4D6-49CC-8DB6-64A2089F0910}" dt="2026-09-07T13:10:09.316" v="342" actId="1076"/>
          <ac:spMkLst>
            <pc:docMk/>
            <pc:sldMk cId="0" sldId="260"/>
            <ac:spMk id="3" creationId="{5786C8CE-D4BD-441A-2EA8-6D41B72A3907}"/>
          </ac:spMkLst>
        </pc:spChg>
        <pc:spChg chg="mod">
          <ac:chgData name="Giritharan. R" userId="2f8cc69c597a8323" providerId="LiveId" clId="{C672B678-B4D6-49CC-8DB6-64A2089F0910}" dt="2026-09-07T13:12:31.055" v="387" actId="1076"/>
          <ac:spMkLst>
            <pc:docMk/>
            <pc:sldMk cId="0" sldId="260"/>
            <ac:spMk id="119" creationId="{00000000-0000-0000-0000-000000000000}"/>
          </ac:spMkLst>
        </pc:spChg>
        <pc:spChg chg="del mod">
          <ac:chgData name="Giritharan. R" userId="2f8cc69c597a8323" providerId="LiveId" clId="{C672B678-B4D6-49CC-8DB6-64A2089F0910}" dt="2026-09-07T12:53:31.654" v="290" actId="478"/>
          <ac:spMkLst>
            <pc:docMk/>
            <pc:sldMk cId="0" sldId="260"/>
            <ac:spMk id="120" creationId="{00000000-0000-0000-0000-000000000000}"/>
          </ac:spMkLst>
        </pc:spChg>
        <pc:picChg chg="add del mod">
          <ac:chgData name="Giritharan. R" userId="2f8cc69c597a8323" providerId="LiveId" clId="{C672B678-B4D6-49CC-8DB6-64A2089F0910}" dt="2026-09-07T13:13:47.287" v="404" actId="478"/>
          <ac:picMkLst>
            <pc:docMk/>
            <pc:sldMk cId="0" sldId="260"/>
            <ac:picMk id="4" creationId="{C379162E-86EE-2CF2-1D2E-ABCB56D9EFEF}"/>
          </ac:picMkLst>
        </pc:picChg>
        <pc:picChg chg="add del mod">
          <ac:chgData name="Giritharan. R" userId="2f8cc69c597a8323" providerId="LiveId" clId="{C672B678-B4D6-49CC-8DB6-64A2089F0910}" dt="2026-09-07T13:13:46.419" v="402" actId="478"/>
          <ac:picMkLst>
            <pc:docMk/>
            <pc:sldMk cId="0" sldId="260"/>
            <ac:picMk id="5" creationId="{DEA81C5B-742F-C4B9-86D0-E3E783A01783}"/>
          </ac:picMkLst>
        </pc:picChg>
      </pc:sldChg>
      <pc:sldChg chg="addSp delSp modSp mod">
        <pc:chgData name="Giritharan. R" userId="2f8cc69c597a8323" providerId="LiveId" clId="{C672B678-B4D6-49CC-8DB6-64A2089F0910}" dt="2026-09-07T12:57:19.744" v="311" actId="255"/>
        <pc:sldMkLst>
          <pc:docMk/>
          <pc:sldMk cId="0" sldId="261"/>
        </pc:sldMkLst>
        <pc:spChg chg="add mod">
          <ac:chgData name="Giritharan. R" userId="2f8cc69c597a8323" providerId="LiveId" clId="{C672B678-B4D6-49CC-8DB6-64A2089F0910}" dt="2026-09-07T12:57:19.744" v="311" actId="255"/>
          <ac:spMkLst>
            <pc:docMk/>
            <pc:sldMk cId="0" sldId="261"/>
            <ac:spMk id="2" creationId="{8622B4F0-7CF9-F383-E893-346C7E6B88D5}"/>
          </ac:spMkLst>
        </pc:spChg>
        <pc:spChg chg="mod">
          <ac:chgData name="Giritharan. R" userId="2f8cc69c597a8323" providerId="LiveId" clId="{C672B678-B4D6-49CC-8DB6-64A2089F0910}" dt="2026-09-07T12:56:12.961" v="308" actId="255"/>
          <ac:spMkLst>
            <pc:docMk/>
            <pc:sldMk cId="0" sldId="261"/>
            <ac:spMk id="123" creationId="{00000000-0000-0000-0000-000000000000}"/>
          </ac:spMkLst>
        </pc:spChg>
        <pc:spChg chg="del mod">
          <ac:chgData name="Giritharan. R" userId="2f8cc69c597a8323" providerId="LiveId" clId="{C672B678-B4D6-49CC-8DB6-64A2089F0910}" dt="2026-09-07T12:55:36.336" v="304" actId="478"/>
          <ac:spMkLst>
            <pc:docMk/>
            <pc:sldMk cId="0" sldId="261"/>
            <ac:spMk id="124" creationId="{00000000-0000-0000-0000-000000000000}"/>
          </ac:spMkLst>
        </pc:spChg>
      </pc:sldChg>
      <pc:sldChg chg="modSp mod">
        <pc:chgData name="Giritharan. R" userId="2f8cc69c597a8323" providerId="LiveId" clId="{C672B678-B4D6-49CC-8DB6-64A2089F0910}" dt="2026-09-07T12:38:44.438" v="210" actId="20577"/>
        <pc:sldMkLst>
          <pc:docMk/>
          <pc:sldMk cId="0" sldId="262"/>
        </pc:sldMkLst>
        <pc:spChg chg="mod">
          <ac:chgData name="Giritharan. R" userId="2f8cc69c597a8323" providerId="LiveId" clId="{C672B678-B4D6-49CC-8DB6-64A2089F0910}" dt="2026-09-07T12:26:23.023" v="76" actId="1076"/>
          <ac:spMkLst>
            <pc:docMk/>
            <pc:sldMk cId="0" sldId="262"/>
            <ac:spMk id="127" creationId="{00000000-0000-0000-0000-000000000000}"/>
          </ac:spMkLst>
        </pc:spChg>
        <pc:spChg chg="mod">
          <ac:chgData name="Giritharan. R" userId="2f8cc69c597a8323" providerId="LiveId" clId="{C672B678-B4D6-49CC-8DB6-64A2089F0910}" dt="2026-09-07T12:38:44.438" v="210" actId="20577"/>
          <ac:spMkLst>
            <pc:docMk/>
            <pc:sldMk cId="0" sldId="262"/>
            <ac:spMk id="128" creationId="{00000000-0000-0000-0000-000000000000}"/>
          </ac:spMkLst>
        </pc:spChg>
      </pc:sldChg>
      <pc:sldChg chg="addSp delSp modSp add mod">
        <pc:chgData name="Giritharan. R" userId="2f8cc69c597a8323" providerId="LiveId" clId="{C672B678-B4D6-49CC-8DB6-64A2089F0910}" dt="2026-09-07T13:13:42.984" v="400" actId="1076"/>
        <pc:sldMkLst>
          <pc:docMk/>
          <pc:sldMk cId="0" sldId="263"/>
        </pc:sldMkLst>
        <pc:spChg chg="mod">
          <ac:chgData name="Giritharan. R" userId="2f8cc69c597a8323" providerId="LiveId" clId="{C672B678-B4D6-49CC-8DB6-64A2089F0910}" dt="2026-09-07T12:44:24.218" v="230" actId="1076"/>
          <ac:spMkLst>
            <pc:docMk/>
            <pc:sldMk cId="0" sldId="263"/>
            <ac:spMk id="115" creationId="{00000000-0000-0000-0000-000000000000}"/>
          </ac:spMkLst>
        </pc:spChg>
        <pc:spChg chg="mod">
          <ac:chgData name="Giritharan. R" userId="2f8cc69c597a8323" providerId="LiveId" clId="{C672B678-B4D6-49CC-8DB6-64A2089F0910}" dt="2026-09-07T12:46:12.585" v="251" actId="20577"/>
          <ac:spMkLst>
            <pc:docMk/>
            <pc:sldMk cId="0" sldId="263"/>
            <ac:spMk id="116" creationId="{00000000-0000-0000-0000-000000000000}"/>
          </ac:spMkLst>
        </pc:spChg>
        <pc:spChg chg="mod">
          <ac:chgData name="Giritharan. R" userId="2f8cc69c597a8323" providerId="LiveId" clId="{C672B678-B4D6-49CC-8DB6-64A2089F0910}" dt="2026-09-07T12:45:18.901" v="239" actId="14100"/>
          <ac:spMkLst>
            <pc:docMk/>
            <pc:sldMk cId="0" sldId="263"/>
            <ac:spMk id="118" creationId="{00000000-0000-0000-0000-000000000000}"/>
          </ac:spMkLst>
        </pc:spChg>
        <pc:spChg chg="mod">
          <ac:chgData name="Giritharan. R" userId="2f8cc69c597a8323" providerId="LiveId" clId="{C672B678-B4D6-49CC-8DB6-64A2089F0910}" dt="2026-09-07T12:45:11.406" v="237" actId="14100"/>
          <ac:spMkLst>
            <pc:docMk/>
            <pc:sldMk cId="0" sldId="263"/>
            <ac:spMk id="119" creationId="{00000000-0000-0000-0000-000000000000}"/>
          </ac:spMkLst>
        </pc:spChg>
        <pc:spChg chg="mod">
          <ac:chgData name="Giritharan. R" userId="2f8cc69c597a8323" providerId="LiveId" clId="{C672B678-B4D6-49CC-8DB6-64A2089F0910}" dt="2026-09-07T12:46:58.984" v="256" actId="1076"/>
          <ac:spMkLst>
            <pc:docMk/>
            <pc:sldMk cId="0" sldId="263"/>
            <ac:spMk id="120" creationId="{00000000-0000-0000-0000-000000000000}"/>
          </ac:spMkLst>
        </pc:spChg>
        <pc:spChg chg="mod">
          <ac:chgData name="Giritharan. R" userId="2f8cc69c597a8323" providerId="LiveId" clId="{C672B678-B4D6-49CC-8DB6-64A2089F0910}" dt="2026-09-07T12:47:15.963" v="261" actId="1076"/>
          <ac:spMkLst>
            <pc:docMk/>
            <pc:sldMk cId="0" sldId="263"/>
            <ac:spMk id="121" creationId="{00000000-0000-0000-0000-000000000000}"/>
          </ac:spMkLst>
        </pc:spChg>
        <pc:spChg chg="del mod">
          <ac:chgData name="Giritharan. R" userId="2f8cc69c597a8323" providerId="LiveId" clId="{C672B678-B4D6-49CC-8DB6-64A2089F0910}" dt="2026-09-07T13:13:20.188" v="393" actId="478"/>
          <ac:spMkLst>
            <pc:docMk/>
            <pc:sldMk cId="0" sldId="263"/>
            <ac:spMk id="125" creationId="{00000000-0000-0000-0000-000000000000}"/>
          </ac:spMkLst>
        </pc:spChg>
        <pc:spChg chg="mod">
          <ac:chgData name="Giritharan. R" userId="2f8cc69c597a8323" providerId="LiveId" clId="{C672B678-B4D6-49CC-8DB6-64A2089F0910}" dt="2026-09-07T13:13:27.497" v="394" actId="1076"/>
          <ac:spMkLst>
            <pc:docMk/>
            <pc:sldMk cId="0" sldId="263"/>
            <ac:spMk id="126" creationId="{00000000-0000-0000-0000-000000000000}"/>
          </ac:spMkLst>
        </pc:spChg>
        <pc:spChg chg="mod">
          <ac:chgData name="Giritharan. R" userId="2f8cc69c597a8323" providerId="LiveId" clId="{C672B678-B4D6-49CC-8DB6-64A2089F0910}" dt="2026-09-07T13:13:30.504" v="395" actId="1076"/>
          <ac:spMkLst>
            <pc:docMk/>
            <pc:sldMk cId="0" sldId="263"/>
            <ac:spMk id="127" creationId="{00000000-0000-0000-0000-000000000000}"/>
          </ac:spMkLst>
        </pc:spChg>
        <pc:picChg chg="add mod">
          <ac:chgData name="Giritharan. R" userId="2f8cc69c597a8323" providerId="LiveId" clId="{C672B678-B4D6-49CC-8DB6-64A2089F0910}" dt="2026-09-07T13:13:36.349" v="397" actId="1076"/>
          <ac:picMkLst>
            <pc:docMk/>
            <pc:sldMk cId="0" sldId="263"/>
            <ac:picMk id="3" creationId="{D657A5DD-D1E9-4CC4-E4DC-495094C9DDEC}"/>
          </ac:picMkLst>
        </pc:picChg>
        <pc:picChg chg="add mod">
          <ac:chgData name="Giritharan. R" userId="2f8cc69c597a8323" providerId="LiveId" clId="{C672B678-B4D6-49CC-8DB6-64A2089F0910}" dt="2026-09-07T13:13:42.984" v="400" actId="1076"/>
          <ac:picMkLst>
            <pc:docMk/>
            <pc:sldMk cId="0" sldId="263"/>
            <ac:picMk id="4" creationId="{042C09E9-1C80-8316-8B28-905303E36558}"/>
          </ac:picMkLst>
        </pc:picChg>
        <pc:cxnChg chg="mod">
          <ac:chgData name="Giritharan. R" userId="2f8cc69c597a8323" providerId="LiveId" clId="{C672B678-B4D6-49CC-8DB6-64A2089F0910}" dt="2026-09-07T12:45:40.827" v="245" actId="1076"/>
          <ac:cxnSpMkLst>
            <pc:docMk/>
            <pc:sldMk cId="0" sldId="263"/>
            <ac:cxnSpMk id="122" creationId="{00000000-0000-0000-0000-000000000000}"/>
          </ac:cxnSpMkLst>
        </pc:cxnChg>
        <pc:cxnChg chg="mod">
          <ac:chgData name="Giritharan. R" userId="2f8cc69c597a8323" providerId="LiveId" clId="{C672B678-B4D6-49CC-8DB6-64A2089F0910}" dt="2026-09-07T12:45:38.397" v="244" actId="1076"/>
          <ac:cxnSpMkLst>
            <pc:docMk/>
            <pc:sldMk cId="0" sldId="263"/>
            <ac:cxnSpMk id="123" creationId="{00000000-0000-0000-0000-000000000000}"/>
          </ac:cxnSpMkLst>
        </pc:cxnChg>
        <pc:cxnChg chg="mod">
          <ac:chgData name="Giritharan. R" userId="2f8cc69c597a8323" providerId="LiveId" clId="{C672B678-B4D6-49CC-8DB6-64A2089F0910}" dt="2026-09-07T12:47:11.261" v="260" actId="1076"/>
          <ac:cxnSpMkLst>
            <pc:docMk/>
            <pc:sldMk cId="0" sldId="263"/>
            <ac:cxnSpMk id="124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9453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07625" y="3657600"/>
            <a:ext cx="7162800" cy="662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India" TargetMode="External"/><Relationship Id="rId13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hyperlink" Target="https://en.wikipedia.org/wiki/Dhanbad" TargetMode="External"/><Relationship Id="rId12" Type="http://schemas.openxmlformats.org/officeDocument/2006/relationships/hyperlink" Target="https://timesofindia.indiatimes.com/india/dhanbad-disaster-all-54-miners-killed/articleshow/1967485.cms" TargetMode="External"/><Relationship Id="rId2" Type="http://schemas.openxmlformats.org/officeDocument/2006/relationships/image" Target="../media/image1.jpeg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Chasnala" TargetMode="External"/><Relationship Id="rId11" Type="http://schemas.openxmlformats.org/officeDocument/2006/relationships/hyperlink" Target="https://en.wikipedia.org/wiki/Chasnala_mining_disaster#:~:text=With%20a%20death%20toll%20of%20375%2C%20Chasnala,the%20mine%20had%20no%20high%20pressure%20pump" TargetMode="External"/><Relationship Id="rId5" Type="http://schemas.openxmlformats.org/officeDocument/2006/relationships/hyperlink" Target="https://www.sanskritiias.com/current-affairs/challenges-and-solutions-of-rescue-operations-in-mining-areas" TargetMode="External"/><Relationship Id="rId15" Type="http://schemas.openxmlformats.org/officeDocument/2006/relationships/image" Target="../media/image13.jpg"/><Relationship Id="rId10" Type="http://schemas.openxmlformats.org/officeDocument/2006/relationships/hyperlink" Target="https://en.wikipedia.org/wiki/Flooded_mines" TargetMode="External"/><Relationship Id="rId4" Type="http://schemas.openxmlformats.org/officeDocument/2006/relationships/image" Target="../media/image10.png"/><Relationship Id="rId9" Type="http://schemas.openxmlformats.org/officeDocument/2006/relationships/hyperlink" Target="https://en.wikipedia.org/wiki/Jharkhand" TargetMode="External"/><Relationship Id="rId1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.jpeg"/><Relationship Id="rId7" Type="http://schemas.openxmlformats.org/officeDocument/2006/relationships/hyperlink" Target="https://drive.google.com/drive/folders/1QueYmu8eD3OStiYB06XMv0hyC67DFhw8?usp=shar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Freeform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94" name="Rectangle"/>
            <p:cNvSpPr/>
            <p:nvPr/>
          </p:nvSpPr>
          <p:spPr>
            <a:xfrm>
              <a:off x="0" y="0"/>
              <a:ext cx="18288000" cy="10287000"/>
            </a:xfrm>
            <a:prstGeom prst="rect">
              <a:avLst/>
            </a:prstGeom>
            <a:blipFill rotWithShape="1">
              <a:blip r:embed="rId2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95" name="Text"/>
            <p:cNvSpPr txBox="1"/>
            <p:nvPr/>
          </p:nvSpPr>
          <p:spPr>
            <a:xfrm>
              <a:off x="0" y="0"/>
              <a:ext cx="18288000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 b="1"/>
              </a:lvl1pPr>
            </a:lstStyle>
            <a:p>
              <a:r>
                <a:t>                                                                                                </a:t>
              </a:r>
            </a:p>
          </p:txBody>
        </p:sp>
      </p:grpSp>
      <p:sp>
        <p:nvSpPr>
          <p:cNvPr id="97" name="TextBox 3"/>
          <p:cNvSpPr txBox="1"/>
          <p:nvPr/>
        </p:nvSpPr>
        <p:spPr>
          <a:xfrm>
            <a:off x="3470953" y="1956774"/>
            <a:ext cx="10077093" cy="2305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4700"/>
              </a:lnSpc>
              <a:defRPr sz="3300">
                <a:latin typeface="Copperplate Gothic 32 BC"/>
                <a:ea typeface="Copperplate Gothic 32 BC"/>
                <a:cs typeface="Copperplate Gothic 32 BC"/>
                <a:sym typeface="Copperplate Gothic 32 BC"/>
              </a:defRPr>
            </a:pPr>
            <a:r>
              <a:t>CODING CLUB BMSIT × ALTERINO CLUB BMSIT</a:t>
            </a:r>
          </a:p>
          <a:p>
            <a:pPr algn="ctr">
              <a:lnSpc>
                <a:spcPts val="9300"/>
              </a:lnSpc>
              <a:defRPr sz="6600">
                <a:latin typeface="Bahnschrift Condensed"/>
                <a:ea typeface="Bahnschrift Condensed"/>
                <a:cs typeface="Bahnschrift Condensed"/>
                <a:sym typeface="Bahnschrift Condensed"/>
              </a:defRPr>
            </a:pPr>
            <a:r>
              <a:t>NIRMAAN 2026</a:t>
            </a:r>
            <a:endParaRPr>
              <a:latin typeface="Norwester"/>
              <a:ea typeface="Norwester"/>
              <a:cs typeface="Norwester"/>
              <a:sym typeface="Norwester"/>
            </a:endParaRPr>
          </a:p>
          <a:p>
            <a:pPr algn="ctr">
              <a:lnSpc>
                <a:spcPts val="4300"/>
              </a:lnSpc>
              <a:defRPr sz="3100">
                <a:latin typeface="Adobe Thai"/>
                <a:ea typeface="Adobe Thai"/>
                <a:cs typeface="Adobe Thai"/>
                <a:sym typeface="Adobe Thai"/>
              </a:defRPr>
            </a:pPr>
            <a:r>
              <a:t>Build. Innovate. Impact</a:t>
            </a:r>
          </a:p>
        </p:txBody>
      </p:sp>
      <p:sp>
        <p:nvSpPr>
          <p:cNvPr id="98" name="TextBox 4"/>
          <p:cNvSpPr txBox="1"/>
          <p:nvPr/>
        </p:nvSpPr>
        <p:spPr>
          <a:xfrm>
            <a:off x="2815206" y="4583643"/>
            <a:ext cx="11464998" cy="2540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5100"/>
              </a:lnSpc>
              <a:defRPr sz="3000" b="1">
                <a:latin typeface="Arial Unicode Bold"/>
                <a:ea typeface="Arial Unicode Bold"/>
                <a:cs typeface="Arial Unicode Bold"/>
                <a:sym typeface="Arial Unicode Bold"/>
              </a:defRPr>
            </a:pPr>
            <a:r>
              <a:rPr dirty="0"/>
              <a:t>Team Name: </a:t>
            </a:r>
            <a:r>
              <a:rPr lang="en-IN" dirty="0"/>
              <a:t>Uno-Pi</a:t>
            </a:r>
            <a:endParaRPr dirty="0"/>
          </a:p>
          <a:p>
            <a:pPr>
              <a:lnSpc>
                <a:spcPts val="5100"/>
              </a:lnSpc>
              <a:defRPr sz="3000" b="1">
                <a:latin typeface="Arial Unicode Bold"/>
                <a:ea typeface="Arial Unicode Bold"/>
                <a:cs typeface="Arial Unicode Bold"/>
                <a:sym typeface="Arial Unicode Bold"/>
              </a:defRPr>
            </a:pPr>
            <a:r>
              <a:rPr dirty="0"/>
              <a:t>Team Leader: </a:t>
            </a:r>
            <a:r>
              <a:rPr lang="en-IN" dirty="0"/>
              <a:t>Srivatsan A</a:t>
            </a:r>
            <a:endParaRPr dirty="0"/>
          </a:p>
          <a:p>
            <a:pPr>
              <a:lnSpc>
                <a:spcPts val="5100"/>
              </a:lnSpc>
              <a:defRPr sz="3000" b="1">
                <a:latin typeface="Arial Unicode Bold"/>
                <a:ea typeface="Arial Unicode Bold"/>
                <a:cs typeface="Arial Unicode Bold"/>
                <a:sym typeface="Arial Unicode Bold"/>
              </a:defRPr>
            </a:pPr>
            <a:r>
              <a:rPr dirty="0"/>
              <a:t>Chosen Track: </a:t>
            </a:r>
            <a:r>
              <a:rPr lang="en-IN" dirty="0"/>
              <a:t>Open Innovation</a:t>
            </a:r>
            <a:endParaRPr dirty="0"/>
          </a:p>
          <a:p>
            <a:pPr>
              <a:lnSpc>
                <a:spcPts val="5100"/>
              </a:lnSpc>
              <a:defRPr sz="3000" b="1">
                <a:latin typeface="Arial Unicode Bold"/>
                <a:ea typeface="Arial Unicode Bold"/>
                <a:cs typeface="Arial Unicode Bold"/>
                <a:sym typeface="Arial Unicode Bold"/>
              </a:defRPr>
            </a:pPr>
            <a:r>
              <a:rPr dirty="0"/>
              <a:t>Problem Statement:</a:t>
            </a:r>
            <a:r>
              <a:rPr lang="en-IN" dirty="0"/>
              <a:t> AI-Powered Mine Safety &amp; Rescue System</a:t>
            </a:r>
            <a:r>
              <a:rPr dirty="0"/>
              <a:t> </a:t>
            </a:r>
          </a:p>
        </p:txBody>
      </p:sp>
      <p:pic>
        <p:nvPicPr>
          <p:cNvPr id="99" name="IMG-20260730-WA0016.jpg" descr="IMG-20260730-WA00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0853" y="2004131"/>
            <a:ext cx="1380515" cy="13805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MastryHub logo_Black.png" descr="MastryHub logo_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5411" y="9018375"/>
            <a:ext cx="2299260" cy="5719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Reskilll logo_Black.png" descr="Reskilll logo_B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330" y="8960991"/>
            <a:ext cx="2511023" cy="5719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Screenshot 2026-08-05 at 6.29.26 PM.png" descr="Screenshot 2026-08-05 at 6.29.26 P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059" y="8012041"/>
            <a:ext cx="2924878" cy="74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Picture 8" descr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5602" y="8960990"/>
            <a:ext cx="730137" cy="5719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Picture 4" descr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352899" cy="18046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Picture 6" descr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3165" y="2008065"/>
            <a:ext cx="1421812" cy="13805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endParaRPr dirty="0"/>
          </a:p>
        </p:txBody>
      </p:sp>
      <p:sp>
        <p:nvSpPr>
          <p:cNvPr id="108" name="TextBox 3"/>
          <p:cNvSpPr txBox="1"/>
          <p:nvPr/>
        </p:nvSpPr>
        <p:spPr>
          <a:xfrm>
            <a:off x="4554788" y="2866203"/>
            <a:ext cx="11021845" cy="743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6400"/>
              </a:lnSpc>
              <a:defRPr sz="3800">
                <a:latin typeface="Arial Black"/>
                <a:ea typeface="Arial Black"/>
                <a:cs typeface="Arial Black"/>
                <a:sym typeface="Arial Black"/>
              </a:defRPr>
            </a:pPr>
            <a:endParaRPr dirty="0"/>
          </a:p>
        </p:txBody>
      </p:sp>
      <p:pic>
        <p:nvPicPr>
          <p:cNvPr id="1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975" y="166082"/>
            <a:ext cx="4694050" cy="953034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BF5FA391-75CD-D65D-CAC3-A6473DF86DA2}"/>
              </a:ext>
            </a:extLst>
          </p:cNvPr>
          <p:cNvSpPr txBox="1"/>
          <p:nvPr/>
        </p:nvSpPr>
        <p:spPr>
          <a:xfrm>
            <a:off x="4351806" y="995498"/>
            <a:ext cx="12709392" cy="743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6576" tIns="18288" rIns="36576" bIns="18288" anchor="t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defRPr sz="3800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lang="en-US" sz="3200" b="1" dirty="0">
                <a:solidFill>
                  <a:srgbClr val="0F2D49"/>
                </a:solidFill>
                <a:latin typeface="Arial Black"/>
              </a:rPr>
              <a:t>Problem Statement &amp; Real-World Impact</a:t>
            </a:r>
            <a:endParaRPr lang="en-US" sz="3200" dirty="0">
              <a:latin typeface="Alice Bold"/>
              <a:ea typeface="Alice Bold"/>
              <a:cs typeface="Alice Bold"/>
              <a:sym typeface="Alice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79D5A9-AB08-263A-4609-BC7FCE6DDD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3" t="15750" r="43217" b="2192"/>
          <a:stretch>
            <a:fillRect/>
          </a:stretch>
        </p:blipFill>
        <p:spPr>
          <a:xfrm>
            <a:off x="14547360" y="6843962"/>
            <a:ext cx="3621289" cy="3365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1C84A6-D7F3-C6DF-2F17-5C0F2932F331}"/>
              </a:ext>
            </a:extLst>
          </p:cNvPr>
          <p:cNvSpPr txBox="1"/>
          <p:nvPr/>
        </p:nvSpPr>
        <p:spPr>
          <a:xfrm>
            <a:off x="155947" y="1681580"/>
            <a:ext cx="14302616" cy="203132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just"/>
            <a:r>
              <a:rPr lang="en-IN" dirty="0"/>
              <a:t>(Problem given organization: Govt. of Jharkhand)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Mining accidents can seriously affect the lives and safety of workers, especially in dangerous and unstable mine environments.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During rescue operations, entering the affected area can also put rescue team members at risk.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There is a need for a robotic system that can enter hazardous areas before humans and provide real-time information about the situation.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system should help detect trapped workers, monitor dangerous gases and environmental conditions, and support safe and effective rescue operations.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93699-5082-3BC0-EEAC-7FE60D2CF19F}"/>
              </a:ext>
            </a:extLst>
          </p:cNvPr>
          <p:cNvSpPr txBox="1"/>
          <p:nvPr/>
        </p:nvSpPr>
        <p:spPr>
          <a:xfrm>
            <a:off x="89712" y="3943997"/>
            <a:ext cx="7180802" cy="62478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Recently, some workers got trapped in a rat hole mining coal mine in Dima Hasao district of Assam due to flooding. Despite rescue operations by several state and central agencies, many workers died. (6 January 2025)</a:t>
            </a:r>
            <a:br>
              <a:rPr lang="en-IN" sz="1600" dirty="0"/>
            </a:br>
            <a:r>
              <a:rPr lang="en-IN" sz="1600" dirty="0">
                <a:hlinkClick r:id="rId5"/>
              </a:rPr>
              <a:t>https://www.sanskritiias.com/current-affairs/challenges-and-solutions-of-rescue-operations-in-mining-areas</a:t>
            </a:r>
            <a:r>
              <a:rPr lang="en-I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 </a:t>
            </a:r>
            <a:r>
              <a:rPr lang="en-IN" sz="1600" b="1" dirty="0"/>
              <a:t>Chasnala mining disaster</a:t>
            </a:r>
            <a:r>
              <a:rPr lang="en-IN" sz="1600" dirty="0"/>
              <a:t> was a disaster that happened on 27 December 1975 in a coal mine in </a:t>
            </a:r>
            <a:r>
              <a:rPr lang="en-IN" sz="1600" dirty="0">
                <a:hlinkClick r:id="rId6" tooltip="Chasnala"/>
              </a:rPr>
              <a:t>Chasnala</a:t>
            </a:r>
            <a:r>
              <a:rPr lang="en-IN" sz="1600" dirty="0"/>
              <a:t> near </a:t>
            </a:r>
            <a:r>
              <a:rPr lang="en-IN" sz="1600" dirty="0">
                <a:hlinkClick r:id="rId7" tooltip="Dhanbad"/>
              </a:rPr>
              <a:t>Dhanbad</a:t>
            </a:r>
            <a:r>
              <a:rPr lang="en-IN" sz="1600" dirty="0"/>
              <a:t> in the </a:t>
            </a:r>
            <a:r>
              <a:rPr lang="en-IN" sz="1600" dirty="0">
                <a:hlinkClick r:id="rId8" tooltip="India"/>
              </a:rPr>
              <a:t>Indian</a:t>
            </a:r>
            <a:r>
              <a:rPr lang="en-IN" sz="1600" dirty="0"/>
              <a:t> state of </a:t>
            </a:r>
            <a:r>
              <a:rPr lang="en-IN" sz="1600" dirty="0">
                <a:hlinkClick r:id="rId9" tooltip="Jharkhand"/>
              </a:rPr>
              <a:t>Jharkhand</a:t>
            </a:r>
            <a:r>
              <a:rPr lang="en-IN" sz="1600" dirty="0"/>
              <a:t>. An explosion in the mine followed by </a:t>
            </a:r>
            <a:r>
              <a:rPr lang="en-IN" sz="1600" dirty="0">
                <a:hlinkClick r:id="rId10" tooltip="Flooded mines"/>
              </a:rPr>
              <a:t>flooding</a:t>
            </a:r>
            <a:r>
              <a:rPr lang="en-IN" sz="1600" dirty="0"/>
              <a:t> killed 375 miners.</a:t>
            </a:r>
            <a:br>
              <a:rPr lang="en-IN" sz="1600" dirty="0"/>
            </a:br>
            <a:r>
              <a:rPr lang="en-IN" sz="1600" dirty="0">
                <a:hlinkClick r:id="rId11"/>
              </a:rPr>
              <a:t>https://en.wikipedia.org/wiki/Chasnala_mining_disaster#:~:text=With%20a%20death%20toll%20of%20375%2C%20Chasnala,the%20mine%20had%20no%20high%20pressure%20pump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Dhanbad disaster: All 54 miners killed, The miners were killed after being trapped about </a:t>
            </a:r>
            <a:r>
              <a:rPr lang="en-IN" sz="1600" b="1" dirty="0"/>
              <a:t>500 metres underground</a:t>
            </a:r>
            <a:r>
              <a:rPr lang="en-IN" sz="1600" dirty="0"/>
              <a:t> in an inferno of </a:t>
            </a:r>
            <a:r>
              <a:rPr lang="en-IN" sz="1600" b="1" dirty="0"/>
              <a:t>blazing methane gas</a:t>
            </a:r>
            <a:r>
              <a:rPr lang="en-IN" sz="1600" dirty="0"/>
              <a:t>. </a:t>
            </a:r>
            <a:r>
              <a:rPr lang="en-IN" sz="1600" dirty="0">
                <a:hlinkClick r:id="rId12"/>
              </a:rPr>
              <a:t>https://timesofindia.indiatimes.com/india/dhanbad-disaster-all-54-miners-killed/articleshow/1967485.cms</a:t>
            </a:r>
            <a:r>
              <a:rPr lang="en-I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Absence of Dedicated Rescue Stations in the Quarry Sector:</a:t>
            </a:r>
            <a:r>
              <a:rPr lang="en-IN" sz="1600" dirty="0"/>
              <a:t> While major lignite operations (NLC India, </a:t>
            </a:r>
            <a:r>
              <a:rPr lang="en-IN" sz="1600" dirty="0" err="1"/>
              <a:t>Neyveli</a:t>
            </a:r>
            <a:r>
              <a:rPr lang="en-IN" sz="1600" dirty="0"/>
              <a:t>) maintain trained personnel under the </a:t>
            </a:r>
            <a:r>
              <a:rPr lang="en-IN" sz="1600" i="1" dirty="0"/>
              <a:t>Mines Rescue Rules (1985)</a:t>
            </a:r>
            <a:r>
              <a:rPr lang="en-IN" sz="1600" dirty="0"/>
              <a:t>, the thousands of minor mineral quarries operate without statutory rescue stations, leaving emergencies to general civil defence or standard fire services untrained in mining dynamics.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32E6E-201B-EAE2-3C9D-792CEDCECFA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757" t="1715" r="790" b="7205"/>
          <a:stretch>
            <a:fillRect/>
          </a:stretch>
        </p:blipFill>
        <p:spPr>
          <a:xfrm>
            <a:off x="7327559" y="6093571"/>
            <a:ext cx="7131004" cy="41491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6D0073-4301-16B9-824F-5782EBDCF2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72069" y="3644115"/>
            <a:ext cx="3722444" cy="31504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FA7AC6-C2E9-C260-566F-96FB557E8E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4266" y="3806794"/>
            <a:ext cx="3504265" cy="23356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 descr="Environmental impact of mining - Wikipedia">
            <a:extLst>
              <a:ext uri="{FF2B5EF4-FFF2-40B4-BE49-F238E27FC236}">
                <a16:creationId xmlns:a16="http://schemas.microsoft.com/office/drawing/2014/main" id="{CAF5D743-8263-E058-9ABA-026827649A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59681" y="3857497"/>
            <a:ext cx="3498882" cy="21052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F9AE51F-093E-80BB-6C8B-85E4F0153FAA}"/>
              </a:ext>
            </a:extLst>
          </p:cNvPr>
          <p:cNvSpPr/>
          <p:nvPr/>
        </p:nvSpPr>
        <p:spPr>
          <a:xfrm>
            <a:off x="14567011" y="1722761"/>
            <a:ext cx="3532560" cy="176289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“Jharkhand is one of India’s major mining states, with 1,104 major and minor mines.”</a:t>
            </a:r>
            <a:endParaRPr lang="en-IN" sz="1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reeform 2"/>
          <p:cNvSpPr/>
          <p:nvPr/>
        </p:nvSpPr>
        <p:spPr>
          <a:xfrm>
            <a:off x="-5403" y="13647"/>
            <a:ext cx="18288001" cy="102870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2" name="TextBox 3"/>
          <p:cNvSpPr txBox="1"/>
          <p:nvPr/>
        </p:nvSpPr>
        <p:spPr>
          <a:xfrm>
            <a:off x="4918239" y="1641053"/>
            <a:ext cx="8608492" cy="583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656532" lvl="1" indent="-328267">
              <a:lnSpc>
                <a:spcPts val="5100"/>
              </a:lnSpc>
              <a:buSzPct val="100000"/>
              <a:buFont typeface="Arial"/>
              <a:buChar char="•"/>
            </a:pPr>
            <a:endParaRPr sz="3200" b="1" dirty="0"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  <p:pic>
        <p:nvPicPr>
          <p:cNvPr id="113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479" y="94128"/>
            <a:ext cx="4577909" cy="92945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C12DC998-8967-C983-3DC4-F00C61963D0F}"/>
              </a:ext>
            </a:extLst>
          </p:cNvPr>
          <p:cNvSpPr txBox="1"/>
          <p:nvPr/>
        </p:nvSpPr>
        <p:spPr>
          <a:xfrm>
            <a:off x="3425016" y="1641053"/>
            <a:ext cx="12528605" cy="6884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6576" tIns="18288" rIns="36576" bIns="18288" anchor="t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defRPr sz="3800">
                <a:latin typeface="Arial Black"/>
                <a:ea typeface="Arial Black"/>
                <a:cs typeface="Arial Black"/>
                <a:sym typeface="Arial Black"/>
              </a:defRPr>
            </a:pPr>
            <a:endParaRPr sz="2800" b="0" dirty="0">
              <a:solidFill>
                <a:srgbClr val="191F26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20090-8B25-193F-B65D-DB9C1649FEF0}"/>
              </a:ext>
            </a:extLst>
          </p:cNvPr>
          <p:cNvSpPr txBox="1"/>
          <p:nvPr/>
        </p:nvSpPr>
        <p:spPr>
          <a:xfrm>
            <a:off x="194063" y="1996209"/>
            <a:ext cx="5161086" cy="452431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600" b="1" dirty="0"/>
              <a:t>Proposed Solution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Develop an AI-powered autonomous mine rescue rover to safely monitor and operate in hazardous underground environments.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Integrate gas, temperature, humidity and obstacle sensors with cameras to detect hazards, obstacles and trapped workers.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Use AI-based vision and sensor analysis for real-time detection and intelligent navigation.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Use LoRa communication to transmit live environmental data, alerts and rover status to the rescue team.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A controlled drilling mechanism can clear or access simulated debris/blockages, supporting safer rescue operations.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The rover is the primary rescue platform, while the drone is the secondary navigation and rapid-survey platform.</a:t>
            </a:r>
          </a:p>
        </p:txBody>
      </p: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570A3CA4-EB40-A81A-340E-B25731083789}"/>
              </a:ext>
            </a:extLst>
          </p:cNvPr>
          <p:cNvSpPr/>
          <p:nvPr/>
        </p:nvSpPr>
        <p:spPr>
          <a:xfrm>
            <a:off x="13123220" y="2164377"/>
            <a:ext cx="1793951" cy="13258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400" b="1" dirty="0">
                <a:solidFill>
                  <a:srgbClr val="123768"/>
                </a:solidFill>
                <a:latin typeface="Aptos"/>
              </a:rPr>
              <a:t>1  SENSE
Gas • Temperature • Camera • Distance</a:t>
            </a:r>
          </a:p>
        </p:txBody>
      </p:sp>
      <p:cxnSp>
        <p:nvCxnSpPr>
          <p:cNvPr id="5" name="Connector 13">
            <a:extLst>
              <a:ext uri="{FF2B5EF4-FFF2-40B4-BE49-F238E27FC236}">
                <a16:creationId xmlns:a16="http://schemas.microsoft.com/office/drawing/2014/main" id="{76A6DAEB-F774-B7E5-CE0B-ECF96C3761D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14020195" y="3490257"/>
            <a:ext cx="1" cy="159358"/>
          </a:xfrm>
          <a:prstGeom prst="lin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6" name="Rounded Rectangle 14">
            <a:extLst>
              <a:ext uri="{FF2B5EF4-FFF2-40B4-BE49-F238E27FC236}">
                <a16:creationId xmlns:a16="http://schemas.microsoft.com/office/drawing/2014/main" id="{0347EBFF-328D-EE98-1FBA-249C7D064132}"/>
              </a:ext>
            </a:extLst>
          </p:cNvPr>
          <p:cNvSpPr/>
          <p:nvPr/>
        </p:nvSpPr>
        <p:spPr>
          <a:xfrm>
            <a:off x="13123219" y="3649615"/>
            <a:ext cx="1793951" cy="13258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400" b="1" dirty="0">
                <a:solidFill>
                  <a:srgbClr val="123768"/>
                </a:solidFill>
                <a:latin typeface="Aptos"/>
              </a:rPr>
              <a:t>2  THINK
Controller + AI-assisted hazard analysis</a:t>
            </a:r>
          </a:p>
        </p:txBody>
      </p:sp>
      <p:cxnSp>
        <p:nvCxnSpPr>
          <p:cNvPr id="7" name="Connector 15">
            <a:extLst>
              <a:ext uri="{FF2B5EF4-FFF2-40B4-BE49-F238E27FC236}">
                <a16:creationId xmlns:a16="http://schemas.microsoft.com/office/drawing/2014/main" id="{72A75CCC-C657-EAFF-460E-9E269EF8BF78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14020194" y="4975495"/>
            <a:ext cx="1" cy="142505"/>
          </a:xfrm>
          <a:prstGeom prst="lin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13310DCF-4DBD-49B4-25C9-738BB9973D9E}"/>
              </a:ext>
            </a:extLst>
          </p:cNvPr>
          <p:cNvSpPr/>
          <p:nvPr/>
        </p:nvSpPr>
        <p:spPr>
          <a:xfrm>
            <a:off x="13123218" y="5118000"/>
            <a:ext cx="1793951" cy="13258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400" b="1" dirty="0">
                <a:solidFill>
                  <a:srgbClr val="123768"/>
                </a:solidFill>
                <a:latin typeface="Aptos"/>
              </a:rPr>
              <a:t>3  ACT &amp; REPORT
Move • Alert • Send live data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FD8668DA-AFB0-CD52-3654-08141DC142C0}"/>
              </a:ext>
            </a:extLst>
          </p:cNvPr>
          <p:cNvSpPr txBox="1"/>
          <p:nvPr/>
        </p:nvSpPr>
        <p:spPr>
          <a:xfrm>
            <a:off x="4581220" y="892183"/>
            <a:ext cx="9114753" cy="744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6400"/>
              </a:lnSpc>
              <a:defRPr sz="3800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Proposed Solution &amp; Innovation</a:t>
            </a:r>
            <a:endParaRPr dirty="0">
              <a:latin typeface="Alice Bold"/>
              <a:ea typeface="Alice Bold"/>
              <a:cs typeface="Alice Bold"/>
              <a:sym typeface="Alice Bold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83DB83-B2FF-BE25-3004-29C221C32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3329" y="7169969"/>
            <a:ext cx="3995778" cy="284555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3CA41C9-F55B-CEC0-EE15-E98FC1713B3E}"/>
              </a:ext>
            </a:extLst>
          </p:cNvPr>
          <p:cNvSpPr txBox="1"/>
          <p:nvPr/>
        </p:nvSpPr>
        <p:spPr>
          <a:xfrm>
            <a:off x="13378214" y="6683545"/>
            <a:ext cx="212992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Expected outcome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B3C2C50-C6A8-5D18-8EBB-19DDD36DAFD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413" t="6465" r="4701" b="41769"/>
          <a:stretch>
            <a:fillRect/>
          </a:stretch>
        </p:blipFill>
        <p:spPr>
          <a:xfrm>
            <a:off x="14609107" y="7867195"/>
            <a:ext cx="3560560" cy="14942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D6829F5-2DAA-6C21-A010-AAF3A3601525}"/>
              </a:ext>
            </a:extLst>
          </p:cNvPr>
          <p:cNvSpPr txBox="1"/>
          <p:nvPr/>
        </p:nvSpPr>
        <p:spPr>
          <a:xfrm>
            <a:off x="7834920" y="1823350"/>
            <a:ext cx="2448549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Our Prototype (Rover)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752140-1951-5A50-9295-3FE5527BAD89}"/>
              </a:ext>
            </a:extLst>
          </p:cNvPr>
          <p:cNvSpPr txBox="1"/>
          <p:nvPr/>
        </p:nvSpPr>
        <p:spPr>
          <a:xfrm>
            <a:off x="15254262" y="3314682"/>
            <a:ext cx="2839675" cy="255454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+mj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 the below link to know more details</a:t>
            </a:r>
          </a:p>
          <a:p>
            <a:endParaRPr lang="en-IN" sz="2000" u="sng" dirty="0"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IN" sz="2000" dirty="0">
                <a:solidFill>
                  <a:srgbClr val="0000FF"/>
                </a:solidFill>
              </a:rPr>
              <a:t>https://drive.google.com/drive/folders/1NFqph8P6IPNAZXV6ouK-oHCO32ejffgh?usp=drive_link</a:t>
            </a:r>
            <a:endParaRPr lang="en-IN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318076-3CBE-3998-8DF0-4997BC0232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046" y="2310661"/>
            <a:ext cx="7319979" cy="43696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BAD744-E459-12A1-400C-6734F338883B}"/>
              </a:ext>
            </a:extLst>
          </p:cNvPr>
          <p:cNvSpPr txBox="1"/>
          <p:nvPr/>
        </p:nvSpPr>
        <p:spPr>
          <a:xfrm>
            <a:off x="254109" y="6765198"/>
            <a:ext cx="4327111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just"/>
            <a:r>
              <a:rPr lang="en-IN" sz="1600" b="1" dirty="0"/>
              <a:t>Problem analysis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Hazardous Mine Conditions:</a:t>
            </a:r>
            <a:r>
              <a:rPr lang="en-IN" sz="1600" dirty="0"/>
              <a:t> Underground coal mines face toxic gas leaks, tunnel collapses, flooding, and poor visibility.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Lack of Real-Time Information:</a:t>
            </a:r>
            <a:r>
              <a:rPr lang="en-IN" sz="1600" dirty="0"/>
              <a:t> Rescue teams cannot easily monitor underground conditions or locate trapped workers during emergencies.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High Risk to Rescuers:</a:t>
            </a:r>
            <a:r>
              <a:rPr lang="en-IN" sz="1600" dirty="0"/>
              <a:t> Human rescue teams must enter dangerous areas, increasing rescue time and the risk of injuries or casualties.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5769C4-0B42-2DC7-A3BE-6F62CBE99FE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034" t="3041" r="877" b="11929"/>
          <a:stretch>
            <a:fillRect/>
          </a:stretch>
        </p:blipFill>
        <p:spPr>
          <a:xfrm>
            <a:off x="4695567" y="6725004"/>
            <a:ext cx="5943600" cy="333340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2"/>
          <p:cNvSpPr/>
          <p:nvPr/>
        </p:nvSpPr>
        <p:spPr>
          <a:xfrm>
            <a:off x="9525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TextBox 3"/>
          <p:cNvSpPr txBox="1"/>
          <p:nvPr/>
        </p:nvSpPr>
        <p:spPr>
          <a:xfrm>
            <a:off x="3383280" y="868680"/>
            <a:ext cx="11704320" cy="486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6576" tIns="18288" rIns="36576" bIns="18288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3800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kumimoji="0" lang="en-IN" sz="2900" b="1" i="0" u="none" strike="noStrike" kern="0" cap="none" spc="0" normalizeH="0" baseline="0" noProof="0" dirty="0">
                <a:ln>
                  <a:noFill/>
                </a:ln>
                <a:solidFill>
                  <a:srgbClr val="0F2D49"/>
                </a:solidFill>
                <a:effectLst/>
                <a:uLnTx/>
                <a:uFillTx/>
                <a:latin typeface="Arial Black"/>
                <a:sym typeface="Arial Black"/>
              </a:rPr>
              <a:t>   </a:t>
            </a:r>
            <a:r>
              <a:rPr kumimoji="0" sz="2900" b="1" i="0" u="none" strike="noStrike" kern="0" cap="none" spc="0" normalizeH="0" baseline="0" noProof="0" dirty="0">
                <a:ln>
                  <a:noFill/>
                </a:ln>
                <a:solidFill>
                  <a:srgbClr val="0F2D49"/>
                </a:solidFill>
                <a:effectLst/>
                <a:uLnTx/>
                <a:uFillTx/>
                <a:latin typeface="Arial Black"/>
                <a:sym typeface="Arial Black"/>
              </a:rPr>
              <a:t>System Architecture &amp; Technical Implementation</a:t>
            </a:r>
            <a:endParaRPr kumimoji="0" sz="3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lice Bold"/>
              <a:ea typeface="Alice Bold"/>
              <a:cs typeface="Alice Bold"/>
              <a:sym typeface="Alice Bold"/>
            </a:endParaRPr>
          </a:p>
        </p:txBody>
      </p:sp>
      <p:pic>
        <p:nvPicPr>
          <p:cNvPr id="117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950" y="89166"/>
            <a:ext cx="4481148" cy="909809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57A5DD-D1E9-4CC4-E4DC-495094C9D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6" y="1631094"/>
            <a:ext cx="6407294" cy="83030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2C09E9-1C80-8316-8B28-905303E36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5380" y="1705235"/>
            <a:ext cx="6407294" cy="83030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DA8073-542A-1FF7-B132-AFBD7E6A3899}"/>
              </a:ext>
            </a:extLst>
          </p:cNvPr>
          <p:cNvSpPr txBox="1"/>
          <p:nvPr/>
        </p:nvSpPr>
        <p:spPr>
          <a:xfrm>
            <a:off x="6516064" y="1759820"/>
            <a:ext cx="3561067" cy="452431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600" dirty="0"/>
              <a:t>We use RTOS based system, for multitasking on real time.</a:t>
            </a:r>
            <a:br>
              <a:rPr lang="en-IN" sz="1600" dirty="0"/>
            </a:br>
            <a:r>
              <a:rPr lang="en-IN" sz="1600" dirty="0"/>
              <a:t>Task 1 - Gas Monitoring</a:t>
            </a:r>
            <a:br>
              <a:rPr lang="en-IN" sz="1600" dirty="0"/>
            </a:br>
            <a:r>
              <a:rPr lang="en-IN" sz="1600" dirty="0"/>
              <a:t>Task 2 - Temperature Monitoring</a:t>
            </a:r>
            <a:br>
              <a:rPr lang="en-IN" sz="1600" dirty="0"/>
            </a:br>
            <a:r>
              <a:rPr lang="en-IN" sz="1600" dirty="0"/>
              <a:t>Task 3 - Camera / Vision Monitoring</a:t>
            </a:r>
            <a:br>
              <a:rPr lang="en-IN" sz="1600" dirty="0"/>
            </a:br>
            <a:r>
              <a:rPr lang="en-IN" sz="1600" dirty="0"/>
              <a:t>Task 4 - AI Processing</a:t>
            </a:r>
            <a:br>
              <a:rPr lang="en-IN" sz="1600" dirty="0"/>
            </a:br>
            <a:r>
              <a:rPr lang="en-IN" sz="1600" dirty="0"/>
              <a:t>Task 5 - Rover Navigation</a:t>
            </a:r>
            <a:br>
              <a:rPr lang="en-IN" sz="1600" dirty="0"/>
            </a:br>
            <a:r>
              <a:rPr lang="en-IN" sz="1600" dirty="0"/>
              <a:t>Task 6 - Drilling Control</a:t>
            </a:r>
            <a:br>
              <a:rPr lang="en-IN" sz="1600" dirty="0"/>
            </a:br>
            <a:r>
              <a:rPr lang="en-IN" sz="1600" dirty="0"/>
              <a:t>Task 7 - Wheel / Belt Drive Control</a:t>
            </a:r>
            <a:br>
              <a:rPr lang="en-IN" sz="1600" dirty="0"/>
            </a:br>
            <a:r>
              <a:rPr lang="en-IN" sz="1600" dirty="0"/>
              <a:t>Task 8 - Delivery Module Control</a:t>
            </a:r>
            <a:br>
              <a:rPr lang="en-IN" sz="1600" dirty="0"/>
            </a:br>
            <a:r>
              <a:rPr lang="en-IN" sz="1600" dirty="0"/>
              <a:t>Task 9 - Drone Navigation</a:t>
            </a:r>
            <a:br>
              <a:rPr lang="en-IN" sz="1600" dirty="0"/>
            </a:br>
            <a:r>
              <a:rPr lang="en-IN" sz="1600" dirty="0"/>
              <a:t>Task 10 - LoRa Communication</a:t>
            </a:r>
            <a:br>
              <a:rPr lang="en-IN" sz="1600" dirty="0"/>
            </a:br>
            <a:r>
              <a:rPr lang="en-IN" sz="1600" dirty="0"/>
              <a:t>Task 11 - Emergency Alert</a:t>
            </a:r>
            <a:br>
              <a:rPr lang="en-IN" sz="1600" dirty="0"/>
            </a:br>
            <a:r>
              <a:rPr lang="en-IN" sz="1600" dirty="0"/>
              <a:t>Task 12 - Battery &amp; BMS Monitoring</a:t>
            </a:r>
            <a:br>
              <a:rPr lang="en-IN" sz="1600" dirty="0"/>
            </a:br>
            <a:r>
              <a:rPr lang="en-IN" sz="1600" dirty="0"/>
              <a:t>Task 13 - Cloud / Dashboard Monitoring</a:t>
            </a:r>
            <a:br>
              <a:rPr lang="en-IN" sz="1600" dirty="0"/>
            </a:br>
            <a:r>
              <a:rPr lang="en-IN" sz="1600" dirty="0"/>
              <a:t>Task 14 - System Health Monitoring</a:t>
            </a:r>
            <a:br>
              <a:rPr lang="en-IN" sz="1600" dirty="0"/>
            </a:br>
            <a:r>
              <a:rPr lang="en-IN" sz="1600" dirty="0"/>
              <a:t>Task 15 - Data Logging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81E755-0826-EF09-8D2A-94D6BA5DEA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278" t="6570" r="45592" b="12252"/>
          <a:stretch>
            <a:fillRect/>
          </a:stretch>
        </p:blipFill>
        <p:spPr>
          <a:xfrm>
            <a:off x="10164828" y="2312112"/>
            <a:ext cx="1581586" cy="37548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0CFBDC-6AE8-12B4-5B56-F55BCA4E740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549" y="6534718"/>
            <a:ext cx="5379831" cy="34495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reeform 2"/>
          <p:cNvSpPr/>
          <p:nvPr/>
        </p:nvSpPr>
        <p:spPr>
          <a:xfrm>
            <a:off x="9525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21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365" y="137390"/>
            <a:ext cx="4499268" cy="91348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B6AF5196-3AFD-9922-6EFD-6C282C502C28}"/>
              </a:ext>
            </a:extLst>
          </p:cNvPr>
          <p:cNvSpPr txBox="1"/>
          <p:nvPr/>
        </p:nvSpPr>
        <p:spPr>
          <a:xfrm>
            <a:off x="6478810" y="990776"/>
            <a:ext cx="6023499" cy="516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6576" tIns="18288" rIns="36576" bIns="18288" anchor="t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defRPr sz="3800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sz="2400" b="1" dirty="0">
                <a:solidFill>
                  <a:srgbClr val="0F2D49"/>
                </a:solidFill>
                <a:latin typeface="Arial Black"/>
              </a:rPr>
              <a:t>Demo Plan &amp; Future Roadmap</a:t>
            </a:r>
            <a:endParaRPr sz="2400" dirty="0">
              <a:latin typeface="Alice Bold"/>
              <a:ea typeface="Alice Bold"/>
              <a:cs typeface="Alice Bold"/>
              <a:sym typeface="Alice Bold"/>
            </a:endParaRPr>
          </a:p>
        </p:txBody>
      </p:sp>
      <p:sp>
        <p:nvSpPr>
          <p:cNvPr id="3" name="Rounded Rectangle 19">
            <a:extLst>
              <a:ext uri="{FF2B5EF4-FFF2-40B4-BE49-F238E27FC236}">
                <a16:creationId xmlns:a16="http://schemas.microsoft.com/office/drawing/2014/main" id="{5786C8CE-D4BD-441A-2EA8-6D41B72A3907}"/>
              </a:ext>
            </a:extLst>
          </p:cNvPr>
          <p:cNvSpPr/>
          <p:nvPr/>
        </p:nvSpPr>
        <p:spPr>
          <a:xfrm>
            <a:off x="8306632" y="6556879"/>
            <a:ext cx="1974189" cy="2563924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73152" tIns="27432" rIns="73152" bIns="27432" rtlCol="0" anchor="ctr"/>
          <a:lstStyle/>
          <a:p>
            <a:pPr algn="l"/>
            <a:r>
              <a:rPr lang="en-IN" sz="1400" b="1" dirty="0">
                <a:solidFill>
                  <a:srgbClr val="232D37"/>
                </a:solidFill>
                <a:latin typeface="Aptos"/>
              </a:rPr>
              <a:t>Future Trends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32D37"/>
                </a:solidFill>
                <a:latin typeface="Aptos"/>
              </a:rPr>
              <a:t>Rover for delivery operations (food, medicine, etc..)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32D37"/>
                </a:solidFill>
                <a:latin typeface="Aptos"/>
              </a:rPr>
              <a:t>Drone for seamless navigation and surveillance </a:t>
            </a:r>
            <a:endParaRPr sz="1400" b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38305-129F-B929-0591-742A3806BF80}"/>
              </a:ext>
            </a:extLst>
          </p:cNvPr>
          <p:cNvSpPr txBox="1"/>
          <p:nvPr/>
        </p:nvSpPr>
        <p:spPr>
          <a:xfrm>
            <a:off x="159345" y="1530722"/>
            <a:ext cx="9861985" cy="420884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>
              <a:lnSpc>
                <a:spcPct val="105000"/>
              </a:lnSpc>
              <a:spcBef>
                <a:spcPts val="300"/>
              </a:spcBef>
              <a:spcAft>
                <a:spcPts val="200"/>
              </a:spcAft>
            </a:pPr>
            <a:r>
              <a:rPr lang="en-US" sz="2000" b="1" dirty="0">
                <a:solidFill>
                  <a:srgbClr val="0F2D49"/>
                </a:solidFill>
                <a:latin typeface="Arial"/>
              </a:rPr>
              <a:t>Live Demo Strategy:</a:t>
            </a:r>
          </a:p>
          <a:p>
            <a:pPr lvl="1">
              <a:buChar char="•"/>
            </a:pPr>
            <a:r>
              <a:rPr lang="en-US" sz="1600" dirty="0">
                <a:solidFill>
                  <a:srgbClr val="191F26"/>
                </a:solidFill>
                <a:latin typeface="Arial"/>
              </a:rPr>
              <a:t>Drive the rover through a simulated mine path with obstacles and low-visibility sections.</a:t>
            </a:r>
          </a:p>
          <a:p>
            <a:pPr lvl="1">
              <a:buChar char="•"/>
            </a:pPr>
            <a:r>
              <a:rPr lang="en-US" sz="1600" dirty="0">
                <a:solidFill>
                  <a:srgbClr val="191F26"/>
                </a:solidFill>
                <a:latin typeface="Arial"/>
              </a:rPr>
              <a:t>Show live gas/environment readings, camera feed, LoRa telemetry and hazard alerts at the base station.</a:t>
            </a:r>
          </a:p>
          <a:p>
            <a:pPr lvl="1">
              <a:buChar char="•"/>
            </a:pPr>
            <a:r>
              <a:rPr lang="en-US" sz="1600" dirty="0">
                <a:solidFill>
                  <a:srgbClr val="191F26"/>
                </a:solidFill>
                <a:latin typeface="Arial"/>
              </a:rPr>
              <a:t>Demonstrate worker/hotspot detection, emergency-supply delivery and route support from the secondary drone concept.</a:t>
            </a:r>
          </a:p>
          <a:p>
            <a:pPr>
              <a:lnSpc>
                <a:spcPct val="105000"/>
              </a:lnSpc>
              <a:spcBef>
                <a:spcPts val="300"/>
              </a:spcBef>
              <a:spcAft>
                <a:spcPts val="200"/>
              </a:spcAft>
            </a:pPr>
            <a:r>
              <a:rPr lang="en-US" sz="2000" b="1" dirty="0">
                <a:solidFill>
                  <a:srgbClr val="0F2D49"/>
                </a:solidFill>
                <a:latin typeface="Arial"/>
              </a:rPr>
              <a:t>Expected Deliverables:</a:t>
            </a:r>
          </a:p>
          <a:p>
            <a:pPr lvl="1">
              <a:buChar char="•"/>
            </a:pPr>
            <a:r>
              <a:rPr lang="en-US" sz="1600" dirty="0">
                <a:solidFill>
                  <a:srgbClr val="191F26"/>
                </a:solidFill>
                <a:latin typeface="Arial"/>
              </a:rPr>
              <a:t>Functional low-cost rover prototype with sensor monitoring, remote/autonomous movement and live alerts.</a:t>
            </a:r>
          </a:p>
          <a:p>
            <a:pPr lvl="1">
              <a:buChar char="•"/>
            </a:pPr>
            <a:r>
              <a:rPr lang="en-US" sz="1600" dirty="0">
                <a:solidFill>
                  <a:srgbClr val="191F26"/>
                </a:solidFill>
                <a:latin typeface="Arial"/>
              </a:rPr>
              <a:t>Working communication/dashboard demonstration plus documented rover–drone architecture and test results.</a:t>
            </a:r>
          </a:p>
          <a:p>
            <a:pPr>
              <a:lnSpc>
                <a:spcPct val="105000"/>
              </a:lnSpc>
              <a:spcBef>
                <a:spcPts val="300"/>
              </a:spcBef>
              <a:spcAft>
                <a:spcPts val="200"/>
              </a:spcAft>
            </a:pPr>
            <a:r>
              <a:rPr lang="en-US" sz="2000" b="1" dirty="0">
                <a:solidFill>
                  <a:srgbClr val="0F2D49"/>
                </a:solidFill>
                <a:latin typeface="Arial"/>
              </a:rPr>
              <a:t>Future Scope &amp; Roadmap:</a:t>
            </a:r>
          </a:p>
          <a:p>
            <a:pPr lvl="1">
              <a:buChar char="•"/>
            </a:pPr>
            <a:r>
              <a:rPr lang="en-US" sz="1600" dirty="0">
                <a:solidFill>
                  <a:srgbClr val="191F26"/>
                </a:solidFill>
                <a:latin typeface="Arial"/>
              </a:rPr>
              <a:t>Short Term: improve AI detection, sensor calibration, rugged enclosure and battery/BMS monitoring.</a:t>
            </a:r>
          </a:p>
          <a:p>
            <a:pPr lvl="1">
              <a:buChar char="•"/>
            </a:pPr>
            <a:r>
              <a:rPr lang="en-US" sz="1600" dirty="0">
                <a:solidFill>
                  <a:srgbClr val="191F26"/>
                </a:solidFill>
                <a:latin typeface="Arial"/>
              </a:rPr>
              <a:t>Mid Term: integrate thermal camera, LiDAR mapping, stronger mesh/relay communication and coordinated drone navigation.</a:t>
            </a:r>
          </a:p>
          <a:p>
            <a:pPr lvl="1">
              <a:buChar char="•"/>
            </a:pPr>
            <a:r>
              <a:rPr lang="en-US" sz="1600" dirty="0">
                <a:solidFill>
                  <a:srgbClr val="191F26"/>
                </a:solidFill>
                <a:latin typeface="Arial"/>
              </a:rPr>
              <a:t>Long Term: mine-grade ruggedization, autonomous mapping/SLAM, multi-rover deployment and field trials with mining/rescue agencies.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6C3AD-39DA-BC66-40D2-8691B96C80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3938"/>
          <a:stretch>
            <a:fillRect/>
          </a:stretch>
        </p:blipFill>
        <p:spPr>
          <a:xfrm>
            <a:off x="14903477" y="1914605"/>
            <a:ext cx="3188729" cy="34254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631BA6-4AB3-CE8D-CC37-912E9ED592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036" y="1981698"/>
            <a:ext cx="4497863" cy="33698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D7E76D-671D-4038-DA1D-147F4C5AF6B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79" t="3630" r="1033" b="6317"/>
          <a:stretch>
            <a:fillRect/>
          </a:stretch>
        </p:blipFill>
        <p:spPr>
          <a:xfrm>
            <a:off x="10380588" y="5523470"/>
            <a:ext cx="7736332" cy="46649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ADA5DA-AEB3-23C1-C08D-D2C07B5545C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23" t="15030" r="1111" b="12035"/>
          <a:stretch>
            <a:fillRect/>
          </a:stretch>
        </p:blipFill>
        <p:spPr>
          <a:xfrm>
            <a:off x="171078" y="5984384"/>
            <a:ext cx="8011073" cy="40652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endParaRPr sz="1400" dirty="0"/>
          </a:p>
        </p:txBody>
      </p:sp>
      <p:pic>
        <p:nvPicPr>
          <p:cNvPr id="125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636" y="128860"/>
            <a:ext cx="4541286" cy="922019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8622B4F0-7CF9-F383-E893-346C7E6B88D5}"/>
              </a:ext>
            </a:extLst>
          </p:cNvPr>
          <p:cNvSpPr txBox="1"/>
          <p:nvPr/>
        </p:nvSpPr>
        <p:spPr>
          <a:xfrm>
            <a:off x="147304" y="1384236"/>
            <a:ext cx="11665755" cy="3709511"/>
          </a:xfrm>
          <a:prstGeom prst="rect">
            <a:avLst/>
          </a:prstGeom>
          <a:ln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36576" tIns="18288" rIns="36576" bIns="18288" anchor="t">
            <a:noAutofit/>
          </a:bodyPr>
          <a:lstStyle/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</a:pPr>
            <a:r>
              <a:rPr sz="1600" b="1" dirty="0">
                <a:solidFill>
                  <a:srgbClr val="0F2D49"/>
                </a:solidFill>
                <a:latin typeface="Arial"/>
              </a:rPr>
              <a:t>24-Hour Build Scope:</a:t>
            </a:r>
          </a:p>
          <a:p>
            <a:pPr lvl="1" algn="just">
              <a:lnSpc>
                <a:spcPct val="120000"/>
              </a:lnSpc>
              <a:buChar char="•"/>
            </a:pPr>
            <a:r>
              <a:rPr lang="en-IN" sz="1600" b="0" dirty="0">
                <a:solidFill>
                  <a:srgbClr val="191F26"/>
                </a:solidFill>
                <a:latin typeface="Arial"/>
              </a:rPr>
              <a:t> </a:t>
            </a:r>
            <a:r>
              <a:rPr sz="1600" b="0" dirty="0">
                <a:solidFill>
                  <a:srgbClr val="191F26"/>
                </a:solidFill>
                <a:latin typeface="Arial"/>
              </a:rPr>
              <a:t>Integrate the rover controller, sensors, camera, motor drive and LoRa link; implement real-time monitoring and alert logic.</a:t>
            </a:r>
          </a:p>
          <a:p>
            <a:pPr lvl="1" algn="just">
              <a:lnSpc>
                <a:spcPct val="120000"/>
              </a:lnSpc>
              <a:buChar char="•"/>
            </a:pPr>
            <a:r>
              <a:rPr lang="en-IN" sz="1600" b="0" dirty="0">
                <a:solidFill>
                  <a:srgbClr val="191F26"/>
                </a:solidFill>
                <a:latin typeface="Arial"/>
              </a:rPr>
              <a:t> </a:t>
            </a:r>
            <a:r>
              <a:rPr sz="1600" b="0" dirty="0">
                <a:solidFill>
                  <a:srgbClr val="191F26"/>
                </a:solidFill>
                <a:latin typeface="Arial"/>
              </a:rPr>
              <a:t>Complete a live obstacle/hazard demo and connect telemetry to a simple base-station/dashboard view.</a:t>
            </a:r>
          </a:p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</a:pPr>
            <a:r>
              <a:rPr sz="1600" b="1" dirty="0">
                <a:solidFill>
                  <a:srgbClr val="0F2D49"/>
                </a:solidFill>
                <a:latin typeface="Arial"/>
              </a:rPr>
              <a:t>Component Checklist:</a:t>
            </a:r>
          </a:p>
          <a:p>
            <a:pPr lvl="1" algn="just">
              <a:lnSpc>
                <a:spcPct val="120000"/>
              </a:lnSpc>
              <a:buChar char="•"/>
            </a:pPr>
            <a:r>
              <a:rPr lang="en-IN" sz="1600" b="0" dirty="0">
                <a:solidFill>
                  <a:srgbClr val="191F26"/>
                </a:solidFill>
                <a:latin typeface="Arial"/>
              </a:rPr>
              <a:t> </a:t>
            </a:r>
            <a:r>
              <a:rPr sz="1600" b="0" dirty="0">
                <a:solidFill>
                  <a:srgbClr val="191F26"/>
                </a:solidFill>
                <a:latin typeface="Arial"/>
              </a:rPr>
              <a:t>Hardware: ESP32 / Pico W, ESP32-CAM, gas sensor, temperature/humidity sensor, ultrasonic/LiDAR, motor driver, DC motors, LoRa, battery/BMS, chassis.</a:t>
            </a:r>
          </a:p>
          <a:p>
            <a:pPr lvl="1" algn="just">
              <a:lnSpc>
                <a:spcPct val="120000"/>
              </a:lnSpc>
              <a:buChar char="•"/>
            </a:pPr>
            <a:r>
              <a:rPr lang="en-IN" sz="1600" b="0" dirty="0">
                <a:solidFill>
                  <a:srgbClr val="191F26"/>
                </a:solidFill>
                <a:latin typeface="Arial"/>
              </a:rPr>
              <a:t> </a:t>
            </a:r>
            <a:r>
              <a:rPr sz="1600" b="0" dirty="0">
                <a:solidFill>
                  <a:srgbClr val="191F26"/>
                </a:solidFill>
                <a:latin typeface="Arial"/>
              </a:rPr>
              <a:t>Embedded system: Arduino IDE / Thonny, Embedded C / MicroPython, RTOS task structure, AI/vision module and data logging.</a:t>
            </a:r>
          </a:p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200"/>
              </a:spcAft>
            </a:pPr>
            <a:r>
              <a:rPr sz="1600" b="1" dirty="0">
                <a:solidFill>
                  <a:srgbClr val="0F2D49"/>
                </a:solidFill>
                <a:latin typeface="Arial"/>
              </a:rPr>
              <a:t>Feasibility &amp; Scalability:</a:t>
            </a:r>
          </a:p>
          <a:p>
            <a:pPr lvl="1" algn="just">
              <a:lnSpc>
                <a:spcPct val="120000"/>
              </a:lnSpc>
              <a:buChar char="•"/>
            </a:pPr>
            <a:r>
              <a:rPr lang="en-IN" sz="1600" b="0" dirty="0">
                <a:solidFill>
                  <a:srgbClr val="191F26"/>
                </a:solidFill>
                <a:latin typeface="Arial"/>
              </a:rPr>
              <a:t> </a:t>
            </a:r>
            <a:r>
              <a:rPr sz="1600" b="0" dirty="0">
                <a:solidFill>
                  <a:srgbClr val="191F26"/>
                </a:solidFill>
                <a:latin typeface="Arial"/>
              </a:rPr>
              <a:t>Uses readily available off-the-shelf components and a modular architecture; prototype target cost is about ₹25,000.</a:t>
            </a:r>
          </a:p>
          <a:p>
            <a:pPr lvl="1" algn="just">
              <a:lnSpc>
                <a:spcPct val="120000"/>
              </a:lnSpc>
              <a:buChar char="•"/>
            </a:pPr>
            <a:r>
              <a:rPr lang="en-IN" sz="1600" b="0" dirty="0">
                <a:solidFill>
                  <a:srgbClr val="191F26"/>
                </a:solidFill>
                <a:latin typeface="Arial"/>
              </a:rPr>
              <a:t> </a:t>
            </a:r>
            <a:r>
              <a:rPr sz="1600" b="0" dirty="0">
                <a:solidFill>
                  <a:srgbClr val="191F26"/>
                </a:solidFill>
                <a:latin typeface="Arial"/>
              </a:rPr>
              <a:t>Can scale from a competition prototype to mining, tunnel and industrial-inspection applications by upgrading sensors, enclosure, communication range and autonomy.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36D03-8C31-7280-7DF5-2575CBF27FFE}"/>
              </a:ext>
            </a:extLst>
          </p:cNvPr>
          <p:cNvSpPr txBox="1"/>
          <p:nvPr/>
        </p:nvSpPr>
        <p:spPr>
          <a:xfrm>
            <a:off x="5230368" y="870489"/>
            <a:ext cx="8400288" cy="830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sz="2400" b="1" dirty="0">
                <a:solidFill>
                  <a:srgbClr val="0F2D49"/>
                </a:solidFill>
                <a:latin typeface="Arial Black"/>
              </a:rPr>
              <a:t>24-Hour Grand Finale Build Scope &amp; Feasibility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59288D-AFCD-A76B-80E8-361BD7DC66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155" b="1129"/>
          <a:stretch>
            <a:fillRect/>
          </a:stretch>
        </p:blipFill>
        <p:spPr>
          <a:xfrm>
            <a:off x="132409" y="5192604"/>
            <a:ext cx="4696711" cy="5041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D6F1E0-0D82-92FD-BA66-161A002C1D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115" t="-171" r="39" b="1300"/>
          <a:stretch>
            <a:fillRect/>
          </a:stretch>
        </p:blipFill>
        <p:spPr>
          <a:xfrm>
            <a:off x="13054264" y="5059613"/>
            <a:ext cx="5125391" cy="5225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E79B709-5C6B-083F-E8D0-3DD25AD5AE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6" t="13744" r="552" b="7160"/>
          <a:stretch>
            <a:fillRect/>
          </a:stretch>
        </p:blipFill>
        <p:spPr>
          <a:xfrm>
            <a:off x="4997625" y="5227603"/>
            <a:ext cx="7912105" cy="48825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D370F0-9B24-53B6-FF7C-CCC94CE6F3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62" t="8304" r="1754" b="8538"/>
          <a:stretch>
            <a:fillRect/>
          </a:stretch>
        </p:blipFill>
        <p:spPr>
          <a:xfrm>
            <a:off x="11961516" y="1384235"/>
            <a:ext cx="6298106" cy="349854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3B5126DC-B0EC-A34B-AE1F-E4351A1D97F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/>
          <a:lstStyle/>
          <a:p>
            <a:endParaRPr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C1DA8-52B0-B9E4-9DEE-CEB24C7FBE1E}"/>
              </a:ext>
            </a:extLst>
          </p:cNvPr>
          <p:cNvSpPr txBox="1"/>
          <p:nvPr/>
        </p:nvSpPr>
        <p:spPr>
          <a:xfrm>
            <a:off x="13861435" y="2363342"/>
            <a:ext cx="4176002" cy="378565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Innovation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Combines an AI-powered rover and drone into one coordinated mine-safety system.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AI combines data from gas, temperature, vision and environmental sensors to detect hazards.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Rover + drone cooperation provides complementary ground and aerial information.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Thermal vision can assist in detecting people in low-visibility areas.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Creates a real-time safety picture of the mine to help rescuers make informed decisions.</a:t>
            </a: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230551-E19C-6761-4224-D6E9F8BEB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839"/>
          <a:stretch>
            <a:fillRect/>
          </a:stretch>
        </p:blipFill>
        <p:spPr>
          <a:xfrm>
            <a:off x="7950997" y="6425325"/>
            <a:ext cx="3597128" cy="34959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8CFD5E-19D2-0173-D8D3-D081EA002A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60" t="17544" r="5760" b="19813"/>
          <a:stretch>
            <a:fillRect/>
          </a:stretch>
        </p:blipFill>
        <p:spPr>
          <a:xfrm>
            <a:off x="11692254" y="6363541"/>
            <a:ext cx="6435108" cy="3495938"/>
          </a:xfrm>
          <a:prstGeom prst="rect">
            <a:avLst/>
          </a:prstGeom>
        </p:spPr>
      </p:pic>
      <p:sp>
        <p:nvSpPr>
          <p:cNvPr id="118" name="Rounded Rectangle 117"/>
          <p:cNvSpPr/>
          <p:nvPr/>
        </p:nvSpPr>
        <p:spPr>
          <a:xfrm>
            <a:off x="4308710" y="800233"/>
            <a:ext cx="2169526" cy="126787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marL="0" marR="0" lvl="0" indent="0" algn="ctr" defTabSz="914400" rtl="0" eaLnBrk="1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2A7846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SENSORS &amp; VISION</a:t>
            </a:r>
          </a:p>
          <a:p>
            <a:pPr marL="0" marR="0" lvl="0" indent="0" algn="ctr" defTabSz="914400" rtl="0" eaLnBrk="1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91F26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Gas • Temp/Humidity</a:t>
            </a:r>
            <a:b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/>
                <a:cs typeface="Helvetica"/>
                <a:sym typeface="Calibri"/>
              </a:rPr>
            </a:b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91F26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Camera • Distance/LiDAR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834852" y="812425"/>
            <a:ext cx="2158526" cy="126787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marL="0" marR="0" lvl="0" indent="0" algn="ctr" defTabSz="914400" rtl="0" eaLnBrk="1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2D5FA5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PROCESSING</a:t>
            </a:r>
          </a:p>
          <a:p>
            <a:pPr marL="0" marR="0" lvl="0" indent="0" algn="ctr" defTabSz="914400" rtl="0" eaLnBrk="1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91F26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ESP32 / Pico W</a:t>
            </a:r>
            <a:b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/>
                <a:cs typeface="Helvetica"/>
                <a:sym typeface="Calibri"/>
              </a:rPr>
            </a:b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91F26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RTOS + AI analysis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296624" y="737540"/>
            <a:ext cx="2176192" cy="13375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7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marL="0" marR="0" lvl="0" indent="0" algn="ctr" defTabSz="914400" rtl="0" eaLnBrk="1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D2732D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COMMUNICATION</a:t>
            </a:r>
          </a:p>
          <a:p>
            <a:pPr marL="0" marR="0" lvl="0" indent="0" algn="ctr" defTabSz="914400" rtl="0" eaLnBrk="1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91F26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LoRa wireless link</a:t>
            </a:r>
            <a:b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/>
                <a:cs typeface="Helvetica"/>
                <a:sym typeface="Calibri"/>
              </a:rPr>
            </a:b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91F26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Alerts + telemetry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1824378" y="751462"/>
            <a:ext cx="2158527" cy="126787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marL="0" marR="0" lvl="0" indent="0" algn="ctr" defTabSz="914400" rtl="0" eaLnBrk="1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187878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BASE STATION</a:t>
            </a:r>
          </a:p>
          <a:p>
            <a:pPr marL="0" marR="0" lvl="0" indent="0" algn="ctr" defTabSz="914400" rtl="0" eaLnBrk="1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91F26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Dashboard / Mobile</a:t>
            </a:r>
            <a:b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"/>
                <a:cs typeface="Helvetica"/>
                <a:sym typeface="Calibri"/>
              </a:rPr>
            </a:b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91F26"/>
                </a:solidFill>
                <a:effectLst/>
                <a:uLnTx/>
                <a:uFillTx/>
                <a:latin typeface="Arial"/>
                <a:cs typeface="Helvetica"/>
                <a:sym typeface="Calibri"/>
              </a:rPr>
              <a:t>Rescue-team decisions</a:t>
            </a:r>
          </a:p>
        </p:txBody>
      </p:sp>
      <p:cxnSp>
        <p:nvCxnSpPr>
          <p:cNvPr id="122" name="Connector 121"/>
          <p:cNvCxnSpPr>
            <a:cxnSpLocks/>
          </p:cNvCxnSpPr>
          <p:nvPr/>
        </p:nvCxnSpPr>
        <p:spPr>
          <a:xfrm>
            <a:off x="6487380" y="1373841"/>
            <a:ext cx="328953" cy="0"/>
          </a:xfrm>
          <a:prstGeom prst="line">
            <a:avLst/>
          </a:prstGeom>
          <a:ln w="27940">
            <a:solidFill>
              <a:srgbClr val="0F2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>
            <a:cxnSpLocks/>
          </p:cNvCxnSpPr>
          <p:nvPr/>
        </p:nvCxnSpPr>
        <p:spPr>
          <a:xfrm>
            <a:off x="8976946" y="1386033"/>
            <a:ext cx="328953" cy="0"/>
          </a:xfrm>
          <a:prstGeom prst="line">
            <a:avLst/>
          </a:prstGeom>
          <a:ln w="27940">
            <a:solidFill>
              <a:srgbClr val="0F2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>
            <a:cxnSpLocks/>
          </p:cNvCxnSpPr>
          <p:nvPr/>
        </p:nvCxnSpPr>
        <p:spPr>
          <a:xfrm>
            <a:off x="11492508" y="1353817"/>
            <a:ext cx="328953" cy="0"/>
          </a:xfrm>
          <a:prstGeom prst="line">
            <a:avLst/>
          </a:prstGeom>
          <a:ln w="27940">
            <a:solidFill>
              <a:srgbClr val="0F2D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7584E44-0A2F-F776-7F55-1DFB3C79E1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65" t="9474" r="1165" b="8253"/>
          <a:stretch>
            <a:fillRect/>
          </a:stretch>
        </p:blipFill>
        <p:spPr>
          <a:xfrm>
            <a:off x="129433" y="2338494"/>
            <a:ext cx="7668156" cy="76148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A334245-DCB8-28D9-DFD0-E184DBA673E3}"/>
              </a:ext>
            </a:extLst>
          </p:cNvPr>
          <p:cNvSpPr txBox="1"/>
          <p:nvPr/>
        </p:nvSpPr>
        <p:spPr>
          <a:xfrm>
            <a:off x="1227533" y="1494427"/>
            <a:ext cx="13516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b="1" dirty="0"/>
              <a:t>Work Flow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5FC1C75-985A-530C-8EA5-2A65CB82F4CB}"/>
              </a:ext>
            </a:extLst>
          </p:cNvPr>
          <p:cNvSpPr/>
          <p:nvPr/>
        </p:nvSpPr>
        <p:spPr>
          <a:xfrm>
            <a:off x="1724383" y="2022624"/>
            <a:ext cx="259923" cy="31587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5A3916-8F4A-6255-A4B2-AD7A7BBA94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88" r="2433" b="2577"/>
          <a:stretch>
            <a:fillRect/>
          </a:stretch>
        </p:blipFill>
        <p:spPr>
          <a:xfrm>
            <a:off x="7897260" y="2373690"/>
            <a:ext cx="5695171" cy="38983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1F9BBE1-9F7E-DB93-35CA-088609772BD8}"/>
              </a:ext>
            </a:extLst>
          </p:cNvPr>
          <p:cNvSpPr txBox="1"/>
          <p:nvPr/>
        </p:nvSpPr>
        <p:spPr>
          <a:xfrm>
            <a:off x="7894438" y="2372378"/>
            <a:ext cx="1443069" cy="3758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56896978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1209</Words>
  <Application>Microsoft Office PowerPoint</Application>
  <PresentationFormat>Custom</PresentationFormat>
  <Paragraphs>86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Alice Bold</vt:lpstr>
      <vt:lpstr>Aptos</vt:lpstr>
      <vt:lpstr>Arial</vt:lpstr>
      <vt:lpstr>Arial Black</vt:lpstr>
      <vt:lpstr>Arial Unicode Bold</vt:lpstr>
      <vt:lpstr>Calibri</vt:lpstr>
      <vt:lpstr>Helvetica</vt:lpstr>
      <vt:lpstr>Norwester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 Vatsan</cp:lastModifiedBy>
  <cp:revision>27</cp:revision>
  <dcterms:modified xsi:type="dcterms:W3CDTF">2026-09-26T03:16:48Z</dcterms:modified>
</cp:coreProperties>
</file>